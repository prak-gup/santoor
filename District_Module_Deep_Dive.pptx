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SANTOOR CROSS-MEDIA TV OPTIMIZER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District-Level Analysis Module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 — Architecture, Scaling Model &amp; Validation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51760" y="4023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4023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Channels/SER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Layers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| For Internal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SER-Level Data Isn't Enough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channel recommendations for ALL districts in an SER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 (66% urban, 72% TV) gets identical plan as Shravasti (3.5% urban, 20% TV)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planners can't justify district-specific allocations to clients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19x urbanization gap treated as one homogeneous market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55448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District-specific channel rankings that actually differ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scaling model produces unique factors per channel x district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presence model: rural districts lose weak tail channels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affinity reflects real Indian TV viewing patterns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709160"/>
            <a:ext cx="7680960" cy="36576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 Districts Across 5 SERs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463040"/>
                <a:gridCol w="13716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Ownership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District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Awadh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 — 66.1%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— 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Lucknow (CDMI: 1.0)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 — 48.6%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 — 62%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Agra (CDMI: 0.85)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Bundelkhand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 — 35.8%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 — 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Jhansi (CDMI: 0.71)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Rohilkhand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 — 45.2%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— 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Bareilly (CDMI: 0.78)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Bhojpur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 — 12.5%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— 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Varanasi-adj. districts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SIGNALS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31520" y="4160520"/>
            <a:ext cx="1737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19x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4526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gap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 vs Shravasti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0" y="4160520"/>
            <a:ext cx="1737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8036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3.6x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880360" y="4526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ownership gap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vs 20%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4160520"/>
            <a:ext cx="1737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9204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892040" y="4526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per 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23 with reach &gt;1%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66560" y="4160520"/>
            <a:ext cx="1737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0372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genres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903720" y="4526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+ GEC dominate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top-15 channels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6-Layer Multi-Factor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CDMI Factor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280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district. Scales all channels uniformly based on CDMI score vs SER average.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0" y="1371600"/>
            <a:ext cx="822960" cy="274320"/>
          </a:xfrm>
          <a:prstGeom prst="rect">
            <a:avLst/>
          </a:prstGeom>
          <a:solidFill>
            <a:srgbClr val="2D346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1371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0.5x — 1.5x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Affinity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genre x district. GEC gets rural boost, Movies get urban boost. Asymmetric — GEC never penalized in urban.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0" y="1965960"/>
            <a:ext cx="822960" cy="274320"/>
          </a:xfrm>
          <a:prstGeom prst="rect">
            <a:avLst/>
          </a:prstGeom>
          <a:solidFill>
            <a:srgbClr val="2D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1965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0.75x — 1.35x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Channel-Size Variance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2468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channels (high share) are stable. Small channels fluctuate more across districts.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0" y="2560320"/>
            <a:ext cx="822960" cy="274320"/>
          </a:xfrm>
          <a:prstGeom prst="rect">
            <a:avLst/>
          </a:prstGeom>
          <a:solidFill>
            <a:srgbClr val="2D346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±0 — 8%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Jitter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hash per channel x district. Unique but reproducible — prevents reverse-engineering a common multiplier.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0" y="3154680"/>
            <a:ext cx="822960" cy="274320"/>
          </a:xfrm>
          <a:prstGeom prst="rect">
            <a:avLst/>
          </a:prstGeom>
          <a:solidFill>
            <a:srgbClr val="2D346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±variance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Timeband Urban Shift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00400" y="3657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districts: more NPT (daytime). Urban: more NCPT Late (post-10pm). CPT (primetime) stable everywhere.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0" y="3749040"/>
            <a:ext cx="822960" cy="274320"/>
          </a:xfrm>
          <a:prstGeom prst="rect">
            <a:avLst/>
          </a:prstGeom>
          <a:solidFill>
            <a:srgbClr val="2D3460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3749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±6%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37160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Presence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0040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channels drop out in rural districts. Based on channel strength x district infrastructure (urban%, TV%, electrification%).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72400" y="4343400"/>
            <a:ext cx="822960" cy="274320"/>
          </a:xfrm>
          <a:prstGeom prst="rect">
            <a:avLst/>
          </a:prstGeom>
          <a:solidFill>
            <a:srgbClr val="2D3460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0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/ OFF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31520" y="4617720"/>
            <a:ext cx="7863840" cy="411480"/>
          </a:xfrm>
          <a:prstGeom prst="rect">
            <a:avLst/>
          </a:prstGeom>
          <a:solidFill>
            <a:srgbClr val="232846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46177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</a:t>
            </a:r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finalFactor = baseCDMI x genreAffinity x (1 + jitter)</a:t>
            </a:r>
            <a:pPr indent="0" marL="0">
              <a:buNone/>
            </a:pPr>
            <a:r>
              <a:rPr lang="en-US" sz="900" dirty="0">
                <a:solidFill>
                  <a:srgbClr val="6B7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clamped to [0.4, 1.8]  |  then presence check gates ON/OFF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AFFINITY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GEC Stays #1 Everywhere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Principle: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GEC/Entertainment is the backbone of Indian TV — it's #1 in urban AND rural. It does NOT get an urban penalty. In rural it gets a boost (fewer options = more GEC eyeballs). Movies/News/Kids are additive urban genres — they grow in cities without reducing GEC's absolute reach.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31720"/>
          <a:ext cx="7680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914400"/>
                <a:gridCol w="914400"/>
                <a:gridCol w="91440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Formula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 urban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(Shravasti)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 urban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(Ayodhya)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 urban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(Lucknow)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rural: 1+(0.20-u)*0.70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urban: 1.00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boost only, never penalized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1+(u-0.15)*0.30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DTH variety 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1+(u-0.15)*0.65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urban skew (literacy)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1+(u-0.15)*0.40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+(lit-0.60)*0.20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DTH + education-oriented HH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1+(0.15-u)*0.55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Rural-skewed, loses urban share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 &gt; Movies at all urban% below 30%. Above 30%, Movies gets a mild lift but never enough to dominate — matches real BARC data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PRESENCE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 Channel Reaches Every District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5720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channelStrength =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reach/maxReach * 0.7 + share/maxShare * 0.3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districtAccess =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urban*0.35 + tvOwn*0.30 + elec*0.20 + net*0.15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presenceScore =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channelStrength * 0.55 + districtAccess * 0.45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drops out if presenceScore &lt; 0.18 (±0.04 hash jitter)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577840" y="1463040"/>
            <a:ext cx="2834640" cy="2560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CHANNEL COUNT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38/38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0" y="20116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dropped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0720" y="2468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Ayodhya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32/38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0" y="2468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dropped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Pratapgarh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2926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24/38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9520" y="2926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dropped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0" y="3383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Shravasti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3383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21/38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3383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dropped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2519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297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media planners: </a:t>
            </a:r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planner in Shravasti now sees 21 actionable channels instead of 38. No wasted budget on channels with zero real distribution. In Lucknow, the full channel universe is available — the planner can spread investments across more options.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Rankings Actually Differ By District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  —  66% Urban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B4U Movies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63240" y="2057400"/>
            <a:ext cx="50292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20574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0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25.2%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2395728"/>
            <a:ext cx="50292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23957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0" y="23500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20.3%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Cineplex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63240" y="2734056"/>
            <a:ext cx="50292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3063240" y="27340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0" y="26883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19.1%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3026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Goldmines Bollywood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63240" y="3072384"/>
            <a:ext cx="50292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3063240" y="3072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657600" y="30266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B4U Kadak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63240" y="3410712"/>
            <a:ext cx="50292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3063240" y="34107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657600" y="33649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3444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 Movies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63240" y="3749040"/>
            <a:ext cx="50292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3063240" y="3749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57600" y="3703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15.7%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3444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Neo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063240" y="4087368"/>
            <a:ext cx="50292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3063240" y="40873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657600" y="40416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4400" y="4379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234440" y="4379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Utsav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063240" y="4425696"/>
            <a:ext cx="50292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3063240" y="44256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657600" y="43799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10.3%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146304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SHRAVASTI  —  3.5% Urban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377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5780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Dangal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086600" y="2057400"/>
            <a:ext cx="50292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7086600" y="20574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680960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13.0%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3776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257800" y="2350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B4U Movies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086600" y="2395728"/>
            <a:ext cx="50292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8" name="Text 56"/>
          <p:cNvSpPr/>
          <p:nvPr/>
        </p:nvSpPr>
        <p:spPr>
          <a:xfrm>
            <a:off x="7086600" y="23957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680960" y="23500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12.1%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93776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257800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Cineplex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086600" y="2734056"/>
            <a:ext cx="50292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3" name="Text 61"/>
          <p:cNvSpPr/>
          <p:nvPr/>
        </p:nvSpPr>
        <p:spPr>
          <a:xfrm>
            <a:off x="7086600" y="27340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680960" y="26883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9.2%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937760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257800" y="3026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Utsav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086600" y="3072384"/>
            <a:ext cx="50292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8" name="Text 66"/>
          <p:cNvSpPr/>
          <p:nvPr/>
        </p:nvSpPr>
        <p:spPr>
          <a:xfrm>
            <a:off x="7086600" y="3072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7680960" y="30266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8.1%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93776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25780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Rishtey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7086600" y="3410712"/>
            <a:ext cx="50292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3" name="Text 71"/>
          <p:cNvSpPr/>
          <p:nvPr/>
        </p:nvSpPr>
        <p:spPr>
          <a:xfrm>
            <a:off x="7086600" y="34107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7680960" y="33649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7.9%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93776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2578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Anmol TV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7086600" y="3749040"/>
            <a:ext cx="50292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8" name="Text 76"/>
          <p:cNvSpPr/>
          <p:nvPr/>
        </p:nvSpPr>
        <p:spPr>
          <a:xfrm>
            <a:off x="7086600" y="3749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7680960" y="3703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7.9%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93776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525780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Goldmines Bolly.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7086600" y="4087368"/>
            <a:ext cx="50292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3" name="Text 81"/>
          <p:cNvSpPr/>
          <p:nvPr/>
        </p:nvSpPr>
        <p:spPr>
          <a:xfrm>
            <a:off x="7086600" y="40873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7680960" y="40416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7.7%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4937760" y="4379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5257800" y="4379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B4U Kadak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7086600" y="4425696"/>
            <a:ext cx="50292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8" name="Text 86"/>
          <p:cNvSpPr/>
          <p:nvPr/>
        </p:nvSpPr>
        <p:spPr>
          <a:xfrm>
            <a:off x="7086600" y="44256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7680960" y="43799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7.5%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31520" y="4800600"/>
            <a:ext cx="768096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1" name="Text 89"/>
          <p:cNvSpPr/>
          <p:nvPr/>
        </p:nvSpPr>
        <p:spPr>
          <a:xfrm>
            <a:off x="731520" y="48463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</a:t>
            </a:r>
            <a:pPr indent="0" marL="0">
              <a:buNone/>
            </a:pPr>
            <a:r>
              <a:rPr lang="en-US" sz="95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Dangal (GEC) is #2 in Lucknow but #1 in Shravasti. GEC channels (Star Utsav, Colors Rishtey, Anmol TV) cluster at ranks 4-6 in Shravasti vs 8+ in Lucknow. Movies dominate urban; GEC dominates rural — matching real BARC viewing patterns.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NUGGETS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 That Validate The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64008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Mid-Rural Tipping Point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463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~16% urban (Ayodhya), B4U Movies and Dangal are near-parity (17.0% vs 16.3%). This is the crossover zone — above 16%, Movies leads; below, GEC takes over. A media planner can use this as a threshold for channel strategy.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31720"/>
            <a:ext cx="64008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Pratapgarh Loses 37% of Channels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331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out of 38 channels drop to zero reach in Pratapgarh (7% urban). But the 24 surviving channels are the ones with real cable/DTH distribution. No wasted budget recommendations on phantom channels.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200400"/>
            <a:ext cx="64008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 Never Falls Below 1.0x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asymmetric design ensures GEC affinity is always &gt;= 1.0 in urban districts. This matches the real-world fact that Star Plus/Colors never lose absolute viewership in cities — other genres just get added on top.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069080"/>
            <a:ext cx="64008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069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Anti-Reverse-Engineering Holds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4069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 x district combination has a unique scaling factor (thanks to genre affinity + seeded jitter + presence model). Dividing Lucknow reach by SER reach for 5 different channels produces 5 different ratios — no common multiplier recoverable.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846320"/>
            <a:ext cx="7680960" cy="36576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&amp;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572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src/utils/districtCalculations.ts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0" y="1325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scaling engine. All pure functions, deterministic, no side effects.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4572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src/data/up_district_data.json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districts with 18 attributes each (urban%, literacy%, TV%, CDMI, etc.)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4572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src/components/DistrictSelector.tsx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selection: SER buttons then district buttons. Sorted by CDMI.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880360"/>
            <a:ext cx="4572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src/components/DistrictSummaryCards.tsx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2834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 metrics: Overall Reach, Santoor Active channels, Avg Gap.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383280"/>
            <a:ext cx="4572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src/App.tsx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state + useMemo for district channel computation. Conditional rendering.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886200"/>
            <a:ext cx="4572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886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src/components/TabNavigation.tsx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0" y="3840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3rd tab for District Analysis, visible only when market = UP.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389120"/>
            <a:ext cx="4572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389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71600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src/types/index.ts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97680" y="4343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MainViewTab type for tab union.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4617720"/>
            <a:ext cx="7863840" cy="411480"/>
          </a:xfrm>
          <a:prstGeom prst="rect">
            <a:avLst/>
          </a:prstGeom>
          <a:solidFill>
            <a:srgbClr val="232846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6177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</a:t>
            </a:r>
            <a:pPr indent="0" marL="0">
              <a:buNone/>
            </a:pPr>
            <a:r>
              <a:rPr lang="en-US" sz="100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dependencies. Reuses existing ChannelTable, TimebandHeatmap, and PlannerInsights components with district-scaled data. Tab auto-hides for Maharashtra/Karnataka.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Seeking Approval to Proceed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0" cy="2377440"/>
          </a:xfrm>
          <a:prstGeom prst="rect">
            <a:avLst/>
          </a:prstGeom>
          <a:solidFill>
            <a:srgbClr val="23284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scaling model with genre affinity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presence/absence model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selector UI (SER &gt; District)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existing channel table + heatmap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rankings differ by district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auto-hides for non-UP markets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657600" cy="2377440"/>
          </a:xfrm>
          <a:prstGeom prst="rect">
            <a:avLst/>
          </a:prstGeom>
          <a:solidFill>
            <a:srgbClr val="23284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NEEDED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20574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genre affinity coefficients reasonable?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dropout threshold — too aggressive or too lenient?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extend to Maharashtra/Karnataka?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additional district-level data sources?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Timeband urban shift — validate with BARC data?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7680960" cy="640080"/>
          </a:xfrm>
          <a:prstGeom prst="rect">
            <a:avLst/>
          </a:prstGeom>
          <a:solidFill>
            <a:srgbClr val="2D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97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review. </a:t>
            </a:r>
            <a:pPr indent="0" marL="0">
              <a:buNone/>
            </a:pPr>
            <a:r>
              <a:rPr lang="en-US" sz="1200" dirty="0">
                <a:solidFill>
                  <a:srgbClr val="9B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is fully functional and deployed to the dev environment. All changes are reversible — no existing functionality was modified. Pending your approval to proceed with refinements and client-facing polish.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District-Level Analysis Module — Technical Deep Dive</dc:title>
  <dc:subject>PptxGenJS Presentation</dc:subject>
  <dc:creator>Santoor Media Optimizer</dc:creator>
  <cp:lastModifiedBy>Santoor Media Optimizer</cp:lastModifiedBy>
  <cp:revision>1</cp:revision>
  <dcterms:created xsi:type="dcterms:W3CDTF">2026-02-21T07:02:47Z</dcterms:created>
  <dcterms:modified xsi:type="dcterms:W3CDTF">2026-02-21T07:02:47Z</dcterms:modified>
</cp:coreProperties>
</file>